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Norwester" charset="1" panose="00000506000000000000"/>
      <p:regular r:id="rId14"/>
    </p:embeddedFont>
    <p:embeddedFont>
      <p:font typeface="Arial Nova" charset="1" panose="020B0504020202020204"/>
      <p:regular r:id="rId15"/>
    </p:embeddedFont>
    <p:embeddedFont>
      <p:font typeface="Times New Roman" charset="1" panose="02020603050405020304"/>
      <p:regular r:id="rId16"/>
    </p:embeddedFont>
    <p:embeddedFont>
      <p:font typeface="Arial Nova Bold" charset="1" panose="020B0804020202020204"/>
      <p:regular r:id="rId17"/>
    </p:embeddedFont>
    <p:embeddedFont>
      <p:font typeface="Canva Sans" charset="1" panose="020B0503030501040103"/>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717856" y="-2471078"/>
            <a:ext cx="12875124" cy="12758078"/>
          </a:xfrm>
          <a:custGeom>
            <a:avLst/>
            <a:gdLst/>
            <a:ahLst/>
            <a:cxnLst/>
            <a:rect r="r" b="b" t="t" l="l"/>
            <a:pathLst>
              <a:path h="12758078" w="12875124">
                <a:moveTo>
                  <a:pt x="12875124" y="0"/>
                </a:moveTo>
                <a:lnTo>
                  <a:pt x="0" y="0"/>
                </a:lnTo>
                <a:lnTo>
                  <a:pt x="0" y="12758078"/>
                </a:lnTo>
                <a:lnTo>
                  <a:pt x="12875124" y="12758078"/>
                </a:lnTo>
                <a:lnTo>
                  <a:pt x="128751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03374" y="5305099"/>
            <a:ext cx="6984626" cy="4981901"/>
          </a:xfrm>
          <a:custGeom>
            <a:avLst/>
            <a:gdLst/>
            <a:ahLst/>
            <a:cxnLst/>
            <a:rect r="r" b="b" t="t" l="l"/>
            <a:pathLst>
              <a:path h="4981901" w="6984626">
                <a:moveTo>
                  <a:pt x="0" y="0"/>
                </a:moveTo>
                <a:lnTo>
                  <a:pt x="6984626" y="0"/>
                </a:lnTo>
                <a:lnTo>
                  <a:pt x="6984626" y="4981901"/>
                </a:lnTo>
                <a:lnTo>
                  <a:pt x="0" y="4981901"/>
                </a:lnTo>
                <a:lnTo>
                  <a:pt x="0" y="0"/>
                </a:lnTo>
                <a:close/>
              </a:path>
            </a:pathLst>
          </a:custGeom>
          <a:blipFill>
            <a:blip r:embed="rId4"/>
            <a:stretch>
              <a:fillRect l="0" t="0" r="0" b="0"/>
            </a:stretch>
          </a:blipFill>
        </p:spPr>
      </p:sp>
      <p:sp>
        <p:nvSpPr>
          <p:cNvPr name="TextBox 4" id="4"/>
          <p:cNvSpPr txBox="true"/>
          <p:nvPr/>
        </p:nvSpPr>
        <p:spPr>
          <a:xfrm rot="0">
            <a:off x="0" y="3063873"/>
            <a:ext cx="11841166" cy="3978279"/>
          </a:xfrm>
          <a:prstGeom prst="rect">
            <a:avLst/>
          </a:prstGeom>
        </p:spPr>
        <p:txBody>
          <a:bodyPr anchor="t" rtlCol="false" tIns="0" lIns="0" bIns="0" rIns="0">
            <a:spAutoFit/>
          </a:bodyPr>
          <a:lstStyle/>
          <a:p>
            <a:pPr algn="ctr">
              <a:lnSpc>
                <a:spcPts val="10584"/>
              </a:lnSpc>
            </a:pPr>
            <a:r>
              <a:rPr lang="en-US" sz="7299">
                <a:solidFill>
                  <a:srgbClr val="000000"/>
                </a:solidFill>
                <a:latin typeface="Norwester"/>
                <a:ea typeface="Norwester"/>
                <a:cs typeface="Norwester"/>
                <a:sym typeface="Norwester"/>
              </a:rPr>
              <a:t>Mini</a:t>
            </a:r>
            <a:r>
              <a:rPr lang="en-US" sz="7299">
                <a:solidFill>
                  <a:srgbClr val="000000"/>
                </a:solidFill>
                <a:latin typeface="Norwester"/>
                <a:ea typeface="Norwester"/>
                <a:cs typeface="Norwester"/>
                <a:sym typeface="Norwester"/>
              </a:rPr>
              <a:t> Search Engine / Information-Retrieval System</a:t>
            </a:r>
          </a:p>
        </p:txBody>
      </p:sp>
      <p:sp>
        <p:nvSpPr>
          <p:cNvPr name="Freeform 5" id="5"/>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5"/>
            <a:stretch>
              <a:fillRect l="0" t="0" r="0" b="0"/>
            </a:stretch>
          </a:blipFill>
        </p:spPr>
      </p:sp>
      <p:sp>
        <p:nvSpPr>
          <p:cNvPr name="TextBox 6" id="6"/>
          <p:cNvSpPr txBox="true"/>
          <p:nvPr/>
        </p:nvSpPr>
        <p:spPr>
          <a:xfrm rot="0">
            <a:off x="3832822" y="8268466"/>
            <a:ext cx="4175522" cy="1243963"/>
          </a:xfrm>
          <a:prstGeom prst="rect">
            <a:avLst/>
          </a:prstGeom>
        </p:spPr>
        <p:txBody>
          <a:bodyPr anchor="t" rtlCol="false" tIns="0" lIns="0" bIns="0" rIns="0">
            <a:spAutoFit/>
          </a:bodyPr>
          <a:lstStyle/>
          <a:p>
            <a:pPr algn="l">
              <a:lnSpc>
                <a:spcPts val="3360"/>
              </a:lnSpc>
              <a:spcBef>
                <a:spcPct val="0"/>
              </a:spcBef>
            </a:pPr>
            <a:r>
              <a:rPr lang="en-US" sz="2400">
                <a:solidFill>
                  <a:srgbClr val="000000"/>
                </a:solidFill>
                <a:latin typeface="Arial Nova"/>
                <a:ea typeface="Arial Nova"/>
                <a:cs typeface="Arial Nova"/>
                <a:sym typeface="Arial Nova"/>
              </a:rPr>
              <a:t>Presented by:</a:t>
            </a:r>
          </a:p>
          <a:p>
            <a:pPr algn="l">
              <a:lnSpc>
                <a:spcPts val="3360"/>
              </a:lnSpc>
              <a:spcBef>
                <a:spcPct val="0"/>
              </a:spcBef>
            </a:pPr>
            <a:r>
              <a:rPr lang="en-US" sz="2400">
                <a:solidFill>
                  <a:srgbClr val="000000"/>
                </a:solidFill>
                <a:latin typeface="Arial Nova"/>
                <a:ea typeface="Arial Nova"/>
                <a:cs typeface="Arial Nova"/>
                <a:sym typeface="Arial Nova"/>
              </a:rPr>
              <a:t>Marri Hruthika - 2520090002</a:t>
            </a:r>
          </a:p>
          <a:p>
            <a:pPr algn="l">
              <a:lnSpc>
                <a:spcPts val="3360"/>
              </a:lnSpc>
              <a:spcBef>
                <a:spcPct val="0"/>
              </a:spcBef>
            </a:pPr>
            <a:r>
              <a:rPr lang="en-US" sz="2400">
                <a:solidFill>
                  <a:srgbClr val="000000"/>
                </a:solidFill>
                <a:latin typeface="Arial Nova"/>
                <a:ea typeface="Arial Nova"/>
                <a:cs typeface="Arial Nova"/>
                <a:sym typeface="Arial Nova"/>
              </a:rPr>
              <a:t>K.Gyathri Srivalli - 2520080010</a:t>
            </a:r>
          </a:p>
        </p:txBody>
      </p:sp>
      <p:sp>
        <p:nvSpPr>
          <p:cNvPr name="TextBox 7" id="7"/>
          <p:cNvSpPr txBox="true"/>
          <p:nvPr/>
        </p:nvSpPr>
        <p:spPr>
          <a:xfrm rot="0">
            <a:off x="2832259" y="1497978"/>
            <a:ext cx="6311741" cy="915034"/>
          </a:xfrm>
          <a:prstGeom prst="rect">
            <a:avLst/>
          </a:prstGeom>
        </p:spPr>
        <p:txBody>
          <a:bodyPr anchor="t" rtlCol="false" tIns="0" lIns="0" bIns="0" rIns="0">
            <a:spAutoFit/>
          </a:bodyPr>
          <a:lstStyle/>
          <a:p>
            <a:pPr algn="ctr">
              <a:lnSpc>
                <a:spcPts val="3640"/>
              </a:lnSpc>
            </a:pPr>
            <a:r>
              <a:rPr lang="en-US" sz="2600">
                <a:solidFill>
                  <a:srgbClr val="000000"/>
                </a:solidFill>
                <a:latin typeface="Times New Roman"/>
                <a:ea typeface="Times New Roman"/>
                <a:cs typeface="Times New Roman"/>
                <a:sym typeface="Times New Roman"/>
              </a:rPr>
              <a:t>DATA STRUCTURES AND ALGORITHMS-3</a:t>
            </a:r>
          </a:p>
          <a:p>
            <a:pPr algn="ctr">
              <a:lnSpc>
                <a:spcPts val="3640"/>
              </a:lnSpc>
              <a:spcBef>
                <a:spcPct val="0"/>
              </a:spcBef>
            </a:pPr>
            <a:r>
              <a:rPr lang="en-US" sz="2600">
                <a:solidFill>
                  <a:srgbClr val="000000"/>
                </a:solidFill>
                <a:latin typeface="Times New Roman"/>
                <a:ea typeface="Times New Roman"/>
                <a:cs typeface="Times New Roman"/>
                <a:sym typeface="Times New Roman"/>
              </a:rPr>
              <a:t>25CS2103E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9F7"/>
        </a:solidFill>
      </p:bgPr>
    </p:bg>
    <p:spTree>
      <p:nvGrpSpPr>
        <p:cNvPr id="1" name=""/>
        <p:cNvGrpSpPr/>
        <p:nvPr/>
      </p:nvGrpSpPr>
      <p:grpSpPr>
        <a:xfrm>
          <a:off x="0" y="0"/>
          <a:ext cx="0" cy="0"/>
          <a:chOff x="0" y="0"/>
          <a:chExt cx="0" cy="0"/>
        </a:xfrm>
      </p:grpSpPr>
      <p:sp>
        <p:nvSpPr>
          <p:cNvPr name="Freeform 2" id="2"/>
          <p:cNvSpPr/>
          <p:nvPr/>
        </p:nvSpPr>
        <p:spPr>
          <a:xfrm flipH="true" flipV="false" rot="-4517737">
            <a:off x="-5159504" y="-6578531"/>
            <a:ext cx="10319008" cy="9324631"/>
          </a:xfrm>
          <a:custGeom>
            <a:avLst/>
            <a:gdLst/>
            <a:ahLst/>
            <a:cxnLst/>
            <a:rect r="r" b="b" t="t" l="l"/>
            <a:pathLst>
              <a:path h="9324631" w="10319008">
                <a:moveTo>
                  <a:pt x="10319008" y="0"/>
                </a:moveTo>
                <a:lnTo>
                  <a:pt x="0" y="0"/>
                </a:lnTo>
                <a:lnTo>
                  <a:pt x="0" y="9324631"/>
                </a:lnTo>
                <a:lnTo>
                  <a:pt x="10319008" y="9324631"/>
                </a:lnTo>
                <a:lnTo>
                  <a:pt x="1031900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14450" y="1185080"/>
            <a:ext cx="12348311" cy="821055"/>
          </a:xfrm>
          <a:prstGeom prst="rect">
            <a:avLst/>
          </a:prstGeom>
        </p:spPr>
        <p:txBody>
          <a:bodyPr anchor="t" rtlCol="false" tIns="0" lIns="0" bIns="0" rIns="0">
            <a:spAutoFit/>
          </a:bodyPr>
          <a:lstStyle/>
          <a:p>
            <a:pPr algn="l">
              <a:lnSpc>
                <a:spcPts val="6719"/>
              </a:lnSpc>
              <a:spcBef>
                <a:spcPct val="0"/>
              </a:spcBef>
            </a:pPr>
            <a:r>
              <a:rPr lang="en-US" b="true" sz="4800">
                <a:solidFill>
                  <a:srgbClr val="000000"/>
                </a:solidFill>
                <a:latin typeface="Arial Nova Bold"/>
                <a:ea typeface="Arial Nova Bold"/>
                <a:cs typeface="Arial Nova Bold"/>
                <a:sym typeface="Arial Nova Bold"/>
              </a:rPr>
              <a:t>ABSTRACT:</a:t>
            </a:r>
          </a:p>
        </p:txBody>
      </p:sp>
      <p:sp>
        <p:nvSpPr>
          <p:cNvPr name="TextBox 4" id="4"/>
          <p:cNvSpPr txBox="true"/>
          <p:nvPr/>
        </p:nvSpPr>
        <p:spPr>
          <a:xfrm rot="0">
            <a:off x="1314450" y="3643979"/>
            <a:ext cx="13041392" cy="4442459"/>
          </a:xfrm>
          <a:prstGeom prst="rect">
            <a:avLst/>
          </a:prstGeom>
        </p:spPr>
        <p:txBody>
          <a:bodyPr anchor="t" rtlCol="false" tIns="0" lIns="0" bIns="0" rIns="0">
            <a:spAutoFit/>
          </a:bodyPr>
          <a:lstStyle/>
          <a:p>
            <a:pPr algn="l">
              <a:lnSpc>
                <a:spcPts val="2940"/>
              </a:lnSpc>
              <a:spcBef>
                <a:spcPct val="0"/>
              </a:spcBef>
            </a:pPr>
            <a:r>
              <a:rPr lang="en-US" sz="2100">
                <a:solidFill>
                  <a:srgbClr val="000000"/>
                </a:solidFill>
                <a:latin typeface="Canva Sans"/>
                <a:ea typeface="Canva Sans"/>
                <a:cs typeface="Canva Sans"/>
                <a:sym typeface="Canva Sans"/>
              </a:rPr>
              <a:t>This project presents a Mini Search Engine designed as an Information-Retrieval System for efficiently searching and retrieving relevant information from a document corpus. The system implements four query classes: exact keyword search, phrase or substring search, fuzzy search with “did you mean” suggestions, and document-similarity search. An indexing mechanism is developed to organize document terms and enable fast retrieval. Ranking algorithms are applied to prioritize results according to query relevance, term frequency, similarity, and matching quality. Fuzzy matching helps users identify spelling errors and retrieve intended terms, while similarity search discovers documents with related content. All core algorithms, including indexing, searching, ranking, string matching, and similarity computation, are implemented manually to demonstrate algorithmic principles. The project also analyses the time and space complexity of each algorithm and considers scalable design choices for handling larger document collections efficiently. Overall, the system demonstrates applications of data structures, algorithms, and information retrieval concepts.</a:t>
            </a:r>
          </a:p>
        </p:txBody>
      </p:sp>
      <p:sp>
        <p:nvSpPr>
          <p:cNvPr name="Freeform 5" id="5"/>
          <p:cNvSpPr/>
          <p:nvPr/>
        </p:nvSpPr>
        <p:spPr>
          <a:xfrm flipH="false" flipV="false" rot="-7552676">
            <a:off x="13197128" y="158633"/>
            <a:ext cx="11934561" cy="10784504"/>
          </a:xfrm>
          <a:custGeom>
            <a:avLst/>
            <a:gdLst/>
            <a:ahLst/>
            <a:cxnLst/>
            <a:rect r="r" b="b" t="t" l="l"/>
            <a:pathLst>
              <a:path h="10784504" w="11934561">
                <a:moveTo>
                  <a:pt x="0" y="0"/>
                </a:moveTo>
                <a:lnTo>
                  <a:pt x="11934561" y="0"/>
                </a:lnTo>
                <a:lnTo>
                  <a:pt x="11934561" y="10784503"/>
                </a:lnTo>
                <a:lnTo>
                  <a:pt x="0" y="107845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9F7"/>
        </a:solidFill>
      </p:bgPr>
    </p:bg>
    <p:spTree>
      <p:nvGrpSpPr>
        <p:cNvPr id="1" name=""/>
        <p:cNvGrpSpPr/>
        <p:nvPr/>
      </p:nvGrpSpPr>
      <p:grpSpPr>
        <a:xfrm>
          <a:off x="0" y="0"/>
          <a:ext cx="0" cy="0"/>
          <a:chOff x="0" y="0"/>
          <a:chExt cx="0" cy="0"/>
        </a:xfrm>
      </p:grpSpPr>
      <p:sp>
        <p:nvSpPr>
          <p:cNvPr name="Freeform 2" id="2"/>
          <p:cNvSpPr/>
          <p:nvPr/>
        </p:nvSpPr>
        <p:spPr>
          <a:xfrm flipH="true" flipV="false" rot="-4517737">
            <a:off x="-5159504" y="-6578531"/>
            <a:ext cx="10319008" cy="9324631"/>
          </a:xfrm>
          <a:custGeom>
            <a:avLst/>
            <a:gdLst/>
            <a:ahLst/>
            <a:cxnLst/>
            <a:rect r="r" b="b" t="t" l="l"/>
            <a:pathLst>
              <a:path h="9324631" w="10319008">
                <a:moveTo>
                  <a:pt x="10319008" y="0"/>
                </a:moveTo>
                <a:lnTo>
                  <a:pt x="0" y="0"/>
                </a:lnTo>
                <a:lnTo>
                  <a:pt x="0" y="9324631"/>
                </a:lnTo>
                <a:lnTo>
                  <a:pt x="10319008" y="9324631"/>
                </a:lnTo>
                <a:lnTo>
                  <a:pt x="1031900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14450" y="1185080"/>
            <a:ext cx="12348311" cy="821055"/>
          </a:xfrm>
          <a:prstGeom prst="rect">
            <a:avLst/>
          </a:prstGeom>
        </p:spPr>
        <p:txBody>
          <a:bodyPr anchor="t" rtlCol="false" tIns="0" lIns="0" bIns="0" rIns="0">
            <a:spAutoFit/>
          </a:bodyPr>
          <a:lstStyle/>
          <a:p>
            <a:pPr algn="l">
              <a:lnSpc>
                <a:spcPts val="6719"/>
              </a:lnSpc>
              <a:spcBef>
                <a:spcPct val="0"/>
              </a:spcBef>
            </a:pPr>
            <a:r>
              <a:rPr lang="en-US" b="true" sz="4800">
                <a:solidFill>
                  <a:srgbClr val="000000"/>
                </a:solidFill>
                <a:latin typeface="Arial Nova Bold"/>
                <a:ea typeface="Arial Nova Bold"/>
                <a:cs typeface="Arial Nova Bold"/>
                <a:sym typeface="Arial Nova Bold"/>
              </a:rPr>
              <a:t>INTRODUCTION:</a:t>
            </a:r>
          </a:p>
        </p:txBody>
      </p:sp>
      <p:sp>
        <p:nvSpPr>
          <p:cNvPr name="TextBox 4" id="4"/>
          <p:cNvSpPr txBox="true"/>
          <p:nvPr/>
        </p:nvSpPr>
        <p:spPr>
          <a:xfrm rot="0">
            <a:off x="1314450" y="3060895"/>
            <a:ext cx="13041392" cy="5928359"/>
          </a:xfrm>
          <a:prstGeom prst="rect">
            <a:avLst/>
          </a:prstGeom>
        </p:spPr>
        <p:txBody>
          <a:bodyPr anchor="t" rtlCol="false" tIns="0" lIns="0" bIns="0" rIns="0">
            <a:spAutoFit/>
          </a:bodyPr>
          <a:lstStyle/>
          <a:p>
            <a:pPr algn="l">
              <a:lnSpc>
                <a:spcPts val="2940"/>
              </a:lnSpc>
            </a:pPr>
          </a:p>
          <a:p>
            <a:pPr algn="l">
              <a:lnSpc>
                <a:spcPts val="2940"/>
              </a:lnSpc>
            </a:pPr>
            <a:r>
              <a:rPr lang="en-US" sz="2100">
                <a:solidFill>
                  <a:srgbClr val="000000"/>
                </a:solidFill>
                <a:latin typeface="Canva Sans"/>
                <a:ea typeface="Canva Sans"/>
                <a:cs typeface="Canva Sans"/>
                <a:sym typeface="Canva Sans"/>
              </a:rPr>
              <a:t>In today’s digital world, information is everywhere—but finding the right information quickly is the real challenge. The Mini Search Engine addresses this challenge by transforming a collection of documents into an intelligent, searchable information space.</a:t>
            </a:r>
          </a:p>
          <a:p>
            <a:pPr algn="l">
              <a:lnSpc>
                <a:spcPts val="2940"/>
              </a:lnSpc>
            </a:pPr>
            <a:r>
              <a:rPr lang="en-US" sz="2100">
                <a:solidFill>
                  <a:srgbClr val="000000"/>
                </a:solidFill>
                <a:latin typeface="Canva Sans"/>
                <a:ea typeface="Canva Sans"/>
                <a:cs typeface="Canva Sans"/>
                <a:sym typeface="Canva Sans"/>
              </a:rPr>
              <a:t>The system combines indexing, string matching, fuzzy searching, ranking, and document similarity to deliver relevant results efficiently. Unlike a basic keyword search, it can understand exact terms, phrases, spelling variations, and relationships between documents, making the search experience more flexible and meaningful.</a:t>
            </a:r>
          </a:p>
          <a:p>
            <a:pPr algn="l">
              <a:lnSpc>
                <a:spcPts val="2940"/>
              </a:lnSpc>
            </a:pPr>
            <a:r>
              <a:rPr lang="en-US" sz="2100">
                <a:solidFill>
                  <a:srgbClr val="000000"/>
                </a:solidFill>
                <a:latin typeface="Canva Sans"/>
                <a:ea typeface="Canva Sans"/>
                <a:cs typeface="Canva Sans"/>
                <a:sym typeface="Canva Sans"/>
              </a:rPr>
              <a:t>Built using core Data Structures and Algorithms, the project manually implements the fundamental mechanisms behind modern search systems. It not only retrieves information but also demonstrates how algorithmic techniques can improve search accuracy, relevance, and performance. Through complexity analysis and scalable design considerations, the project provides a practical insight into how real-world information-retrieval systems are engineered.</a:t>
            </a:r>
          </a:p>
          <a:p>
            <a:pPr algn="l">
              <a:lnSpc>
                <a:spcPts val="2940"/>
              </a:lnSpc>
              <a:spcBef>
                <a:spcPct val="0"/>
              </a:spcBef>
            </a:pPr>
            <a:r>
              <a:rPr lang="en-US" sz="2100">
                <a:solidFill>
                  <a:srgbClr val="000000"/>
                </a:solidFill>
                <a:latin typeface="Canva Sans"/>
                <a:ea typeface="Canva Sans"/>
                <a:cs typeface="Canva Sans"/>
                <a:sym typeface="Canva Sans"/>
              </a:rPr>
              <a:t>From simply finding words to finding what matters — this Mini Search Engine brings the core intelligence of search into a compact, algorithm-driven system.</a:t>
            </a:r>
          </a:p>
          <a:p>
            <a:pPr algn="l">
              <a:lnSpc>
                <a:spcPts val="2940"/>
              </a:lnSpc>
              <a:spcBef>
                <a:spcPct val="0"/>
              </a:spcBef>
            </a:pPr>
          </a:p>
        </p:txBody>
      </p:sp>
      <p:sp>
        <p:nvSpPr>
          <p:cNvPr name="Freeform 5" id="5"/>
          <p:cNvSpPr/>
          <p:nvPr/>
        </p:nvSpPr>
        <p:spPr>
          <a:xfrm flipH="false" flipV="false" rot="-7552676">
            <a:off x="13197128" y="158633"/>
            <a:ext cx="11934561" cy="10784504"/>
          </a:xfrm>
          <a:custGeom>
            <a:avLst/>
            <a:gdLst/>
            <a:ahLst/>
            <a:cxnLst/>
            <a:rect r="r" b="b" t="t" l="l"/>
            <a:pathLst>
              <a:path h="10784504" w="11934561">
                <a:moveTo>
                  <a:pt x="0" y="0"/>
                </a:moveTo>
                <a:lnTo>
                  <a:pt x="11934561" y="0"/>
                </a:lnTo>
                <a:lnTo>
                  <a:pt x="11934561" y="10784503"/>
                </a:lnTo>
                <a:lnTo>
                  <a:pt x="0" y="107845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9F7"/>
        </a:solidFill>
      </p:bgPr>
    </p:bg>
    <p:spTree>
      <p:nvGrpSpPr>
        <p:cNvPr id="1" name=""/>
        <p:cNvGrpSpPr/>
        <p:nvPr/>
      </p:nvGrpSpPr>
      <p:grpSpPr>
        <a:xfrm>
          <a:off x="0" y="0"/>
          <a:ext cx="0" cy="0"/>
          <a:chOff x="0" y="0"/>
          <a:chExt cx="0" cy="0"/>
        </a:xfrm>
      </p:grpSpPr>
      <p:sp>
        <p:nvSpPr>
          <p:cNvPr name="Freeform 2" id="2"/>
          <p:cNvSpPr/>
          <p:nvPr/>
        </p:nvSpPr>
        <p:spPr>
          <a:xfrm flipH="true" flipV="false" rot="-4517737">
            <a:off x="-5159504" y="-6578531"/>
            <a:ext cx="10319008" cy="9324631"/>
          </a:xfrm>
          <a:custGeom>
            <a:avLst/>
            <a:gdLst/>
            <a:ahLst/>
            <a:cxnLst/>
            <a:rect r="r" b="b" t="t" l="l"/>
            <a:pathLst>
              <a:path h="9324631" w="10319008">
                <a:moveTo>
                  <a:pt x="10319008" y="0"/>
                </a:moveTo>
                <a:lnTo>
                  <a:pt x="0" y="0"/>
                </a:lnTo>
                <a:lnTo>
                  <a:pt x="0" y="9324631"/>
                </a:lnTo>
                <a:lnTo>
                  <a:pt x="10319008" y="9324631"/>
                </a:lnTo>
                <a:lnTo>
                  <a:pt x="1031900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14450" y="933450"/>
            <a:ext cx="12348311" cy="821055"/>
          </a:xfrm>
          <a:prstGeom prst="rect">
            <a:avLst/>
          </a:prstGeom>
        </p:spPr>
        <p:txBody>
          <a:bodyPr anchor="t" rtlCol="false" tIns="0" lIns="0" bIns="0" rIns="0">
            <a:spAutoFit/>
          </a:bodyPr>
          <a:lstStyle/>
          <a:p>
            <a:pPr algn="l">
              <a:lnSpc>
                <a:spcPts val="6719"/>
              </a:lnSpc>
              <a:spcBef>
                <a:spcPct val="0"/>
              </a:spcBef>
            </a:pPr>
            <a:r>
              <a:rPr lang="en-US" b="true" sz="4800">
                <a:solidFill>
                  <a:srgbClr val="000000"/>
                </a:solidFill>
                <a:latin typeface="Arial Nova Bold"/>
                <a:ea typeface="Arial Nova Bold"/>
                <a:cs typeface="Arial Nova Bold"/>
                <a:sym typeface="Arial Nova Bold"/>
              </a:rPr>
              <a:t>Problem Statement:</a:t>
            </a:r>
          </a:p>
        </p:txBody>
      </p:sp>
      <p:sp>
        <p:nvSpPr>
          <p:cNvPr name="TextBox 4" id="4"/>
          <p:cNvSpPr txBox="true"/>
          <p:nvPr/>
        </p:nvSpPr>
        <p:spPr>
          <a:xfrm rot="0">
            <a:off x="1314450" y="2102068"/>
            <a:ext cx="13041392" cy="1842134"/>
          </a:xfrm>
          <a:prstGeom prst="rect">
            <a:avLst/>
          </a:prstGeom>
        </p:spPr>
        <p:txBody>
          <a:bodyPr anchor="t" rtlCol="false" tIns="0" lIns="0" bIns="0" rIns="0">
            <a:spAutoFit/>
          </a:bodyPr>
          <a:lstStyle/>
          <a:p>
            <a:pPr algn="l">
              <a:lnSpc>
                <a:spcPts val="2940"/>
              </a:lnSpc>
              <a:spcBef>
                <a:spcPct val="0"/>
              </a:spcBef>
            </a:pPr>
            <a:r>
              <a:rPr lang="en-US" sz="2100">
                <a:solidFill>
                  <a:srgbClr val="000000"/>
                </a:solidFill>
                <a:latin typeface="Canva Sans"/>
                <a:ea typeface="Canva Sans"/>
                <a:cs typeface="Canva Sans"/>
                <a:sym typeface="Canva Sans"/>
              </a:rPr>
              <a:t>T</a:t>
            </a:r>
            <a:r>
              <a:rPr lang="en-US" sz="2100">
                <a:solidFill>
                  <a:srgbClr val="000000"/>
                </a:solidFill>
                <a:latin typeface="Canva Sans"/>
                <a:ea typeface="Canva Sans"/>
                <a:cs typeface="Canva Sans"/>
                <a:sym typeface="Canva Sans"/>
              </a:rPr>
              <a:t>raditional file searching methods rely on exact keyword matching and often fail to provide relevant results when users enter incorrect spellings, search for phrases, or use related terms. Searching through multiple text documents manually is time-consuming and inefficient. Therefore, a Mini Search Engine is developed to efficiently index, search, retrieve, and rank documents based on their relevance to a user's query.</a:t>
            </a:r>
          </a:p>
        </p:txBody>
      </p:sp>
      <p:sp>
        <p:nvSpPr>
          <p:cNvPr name="Freeform 5" id="5"/>
          <p:cNvSpPr/>
          <p:nvPr/>
        </p:nvSpPr>
        <p:spPr>
          <a:xfrm flipH="false" flipV="false" rot="-7552676">
            <a:off x="13197128" y="158633"/>
            <a:ext cx="11934561" cy="10784504"/>
          </a:xfrm>
          <a:custGeom>
            <a:avLst/>
            <a:gdLst/>
            <a:ahLst/>
            <a:cxnLst/>
            <a:rect r="r" b="b" t="t" l="l"/>
            <a:pathLst>
              <a:path h="10784504" w="11934561">
                <a:moveTo>
                  <a:pt x="0" y="0"/>
                </a:moveTo>
                <a:lnTo>
                  <a:pt x="11934561" y="0"/>
                </a:lnTo>
                <a:lnTo>
                  <a:pt x="11934561" y="10784503"/>
                </a:lnTo>
                <a:lnTo>
                  <a:pt x="0" y="107845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314450" y="4685347"/>
            <a:ext cx="12348311" cy="821055"/>
          </a:xfrm>
          <a:prstGeom prst="rect">
            <a:avLst/>
          </a:prstGeom>
        </p:spPr>
        <p:txBody>
          <a:bodyPr anchor="t" rtlCol="false" tIns="0" lIns="0" bIns="0" rIns="0">
            <a:spAutoFit/>
          </a:bodyPr>
          <a:lstStyle/>
          <a:p>
            <a:pPr algn="l">
              <a:lnSpc>
                <a:spcPts val="6719"/>
              </a:lnSpc>
              <a:spcBef>
                <a:spcPct val="0"/>
              </a:spcBef>
            </a:pPr>
            <a:r>
              <a:rPr lang="en-US" b="true" sz="4800">
                <a:solidFill>
                  <a:srgbClr val="000000"/>
                </a:solidFill>
                <a:latin typeface="Arial Nova Bold"/>
                <a:ea typeface="Arial Nova Bold"/>
                <a:cs typeface="Arial Nova Bold"/>
                <a:sym typeface="Arial Nova Bold"/>
              </a:rPr>
              <a:t>Our Proposed Solution:</a:t>
            </a:r>
          </a:p>
        </p:txBody>
      </p:sp>
      <p:sp>
        <p:nvSpPr>
          <p:cNvPr name="TextBox 7" id="7"/>
          <p:cNvSpPr txBox="true"/>
          <p:nvPr/>
        </p:nvSpPr>
        <p:spPr>
          <a:xfrm rot="0">
            <a:off x="1314450" y="5930266"/>
            <a:ext cx="13041392" cy="3328034"/>
          </a:xfrm>
          <a:prstGeom prst="rect">
            <a:avLst/>
          </a:prstGeom>
        </p:spPr>
        <p:txBody>
          <a:bodyPr anchor="t" rtlCol="false" tIns="0" lIns="0" bIns="0" rIns="0">
            <a:spAutoFit/>
          </a:bodyPr>
          <a:lstStyle/>
          <a:p>
            <a:pPr algn="l">
              <a:lnSpc>
                <a:spcPts val="2940"/>
              </a:lnSpc>
            </a:pPr>
            <a:r>
              <a:rPr lang="en-US" sz="2100">
                <a:solidFill>
                  <a:srgbClr val="000000"/>
                </a:solidFill>
                <a:latin typeface="Canva Sans"/>
                <a:ea typeface="Canva Sans"/>
                <a:cs typeface="Canva Sans"/>
                <a:sym typeface="Canva Sans"/>
              </a:rPr>
              <a:t>Ou</a:t>
            </a:r>
            <a:r>
              <a:rPr lang="en-US" sz="2100">
                <a:solidFill>
                  <a:srgbClr val="000000"/>
                </a:solidFill>
                <a:latin typeface="Canva Sans"/>
                <a:ea typeface="Canva Sans"/>
                <a:cs typeface="Canva Sans"/>
                <a:sym typeface="Canva Sans"/>
              </a:rPr>
              <a:t>r Mini Search Engine provides an efficient document retrieval system that indexes text documents and retrieves relevant results based on user queries.</a:t>
            </a:r>
          </a:p>
          <a:p>
            <a:pPr algn="l" marL="453398" indent="-226699" lvl="1">
              <a:lnSpc>
                <a:spcPts val="2940"/>
              </a:lnSpc>
              <a:buFont typeface="Arial"/>
              <a:buChar char="•"/>
            </a:pPr>
            <a:r>
              <a:rPr lang="en-US" sz="2100">
                <a:solidFill>
                  <a:srgbClr val="000000"/>
                </a:solidFill>
                <a:latin typeface="Canva Sans"/>
                <a:ea typeface="Canva Sans"/>
                <a:cs typeface="Canva Sans"/>
                <a:sym typeface="Canva Sans"/>
              </a:rPr>
              <a:t>Keyword Search: Finds documents containing the searched keywords.</a:t>
            </a:r>
          </a:p>
          <a:p>
            <a:pPr algn="l" marL="453398" indent="-226699" lvl="1">
              <a:lnSpc>
                <a:spcPts val="2940"/>
              </a:lnSpc>
              <a:buFont typeface="Arial"/>
              <a:buChar char="•"/>
            </a:pPr>
            <a:r>
              <a:rPr lang="en-US" sz="2100">
                <a:solidFill>
                  <a:srgbClr val="000000"/>
                </a:solidFill>
                <a:latin typeface="Canva Sans"/>
                <a:ea typeface="Canva Sans"/>
                <a:cs typeface="Canva Sans"/>
                <a:sym typeface="Canva Sans"/>
              </a:rPr>
              <a:t>Phrase Search: Retrieves documents matching specific phrases.</a:t>
            </a:r>
          </a:p>
          <a:p>
            <a:pPr algn="l" marL="453398" indent="-226699" lvl="1">
              <a:lnSpc>
                <a:spcPts val="2940"/>
              </a:lnSpc>
              <a:buFont typeface="Arial"/>
              <a:buChar char="•"/>
            </a:pPr>
            <a:r>
              <a:rPr lang="en-US" sz="2100">
                <a:solidFill>
                  <a:srgbClr val="000000"/>
                </a:solidFill>
                <a:latin typeface="Canva Sans"/>
                <a:ea typeface="Canva Sans"/>
                <a:cs typeface="Canva Sans"/>
                <a:sym typeface="Canva Sans"/>
              </a:rPr>
              <a:t>Fuzzy Search: Helps identify possible matches despite spelling mistakes.</a:t>
            </a:r>
          </a:p>
          <a:p>
            <a:pPr algn="l" marL="453398" indent="-226699" lvl="1">
              <a:lnSpc>
                <a:spcPts val="2940"/>
              </a:lnSpc>
              <a:buFont typeface="Arial"/>
              <a:buChar char="•"/>
            </a:pPr>
            <a:r>
              <a:rPr lang="en-US" sz="2100">
                <a:solidFill>
                  <a:srgbClr val="000000"/>
                </a:solidFill>
                <a:latin typeface="Canva Sans"/>
                <a:ea typeface="Canva Sans"/>
                <a:cs typeface="Canva Sans"/>
                <a:sym typeface="Canva Sans"/>
              </a:rPr>
              <a:t>Relevance Ranking: Displays the most relevant documents first.</a:t>
            </a:r>
          </a:p>
          <a:p>
            <a:pPr algn="l" marL="453398" indent="-226699" lvl="1">
              <a:lnSpc>
                <a:spcPts val="2940"/>
              </a:lnSpc>
              <a:buFont typeface="Arial"/>
              <a:buChar char="•"/>
            </a:pPr>
            <a:r>
              <a:rPr lang="en-US" sz="2100">
                <a:solidFill>
                  <a:srgbClr val="000000"/>
                </a:solidFill>
                <a:latin typeface="Canva Sans"/>
                <a:ea typeface="Canva Sans"/>
                <a:cs typeface="Canva Sans"/>
                <a:sym typeface="Canva Sans"/>
              </a:rPr>
              <a:t>Document Similarity: Identifies documents with content similar to the query or other documents.</a:t>
            </a:r>
          </a:p>
          <a:p>
            <a:pPr algn="l" marL="453398" indent="-226699" lvl="1">
              <a:lnSpc>
                <a:spcPts val="2940"/>
              </a:lnSpc>
              <a:spcBef>
                <a:spcPct val="0"/>
              </a:spcBef>
              <a:buFont typeface="Arial"/>
              <a:buChar char="•"/>
            </a:pPr>
            <a:r>
              <a:rPr lang="en-US" sz="2100">
                <a:solidFill>
                  <a:srgbClr val="000000"/>
                </a:solidFill>
                <a:latin typeface="Canva Sans"/>
                <a:ea typeface="Canva Sans"/>
                <a:cs typeface="Canva Sans"/>
                <a:sym typeface="Canva Sans"/>
              </a:rPr>
              <a:t>Efficient Indexing: Uses an index to reduce repeated searching through all documents.</a:t>
            </a:r>
          </a:p>
          <a:p>
            <a:pPr algn="l">
              <a:lnSpc>
                <a:spcPts val="2940"/>
              </a:lnSpc>
              <a:spcBef>
                <a:spcPct val="0"/>
              </a:spcBef>
            </a:pPr>
          </a:p>
        </p:txBody>
      </p:sp>
      <p:sp>
        <p:nvSpPr>
          <p:cNvPr name="Freeform 8" id="8"/>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9F7"/>
        </a:solidFill>
      </p:bgPr>
    </p:bg>
    <p:spTree>
      <p:nvGrpSpPr>
        <p:cNvPr id="1" name=""/>
        <p:cNvGrpSpPr/>
        <p:nvPr/>
      </p:nvGrpSpPr>
      <p:grpSpPr>
        <a:xfrm>
          <a:off x="0" y="0"/>
          <a:ext cx="0" cy="0"/>
          <a:chOff x="0" y="0"/>
          <a:chExt cx="0" cy="0"/>
        </a:xfrm>
      </p:grpSpPr>
      <p:sp>
        <p:nvSpPr>
          <p:cNvPr name="Freeform 2" id="2"/>
          <p:cNvSpPr/>
          <p:nvPr/>
        </p:nvSpPr>
        <p:spPr>
          <a:xfrm flipH="true" flipV="false" rot="-4517737">
            <a:off x="-3640186" y="-5201649"/>
            <a:ext cx="10319008" cy="9324631"/>
          </a:xfrm>
          <a:custGeom>
            <a:avLst/>
            <a:gdLst/>
            <a:ahLst/>
            <a:cxnLst/>
            <a:rect r="r" b="b" t="t" l="l"/>
            <a:pathLst>
              <a:path h="9324631" w="10319008">
                <a:moveTo>
                  <a:pt x="10319008" y="0"/>
                </a:moveTo>
                <a:lnTo>
                  <a:pt x="0" y="0"/>
                </a:lnTo>
                <a:lnTo>
                  <a:pt x="0" y="9324631"/>
                </a:lnTo>
                <a:lnTo>
                  <a:pt x="10319008" y="9324631"/>
                </a:lnTo>
                <a:lnTo>
                  <a:pt x="1031900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81759" y="4412471"/>
            <a:ext cx="8277037" cy="4081169"/>
          </a:xfrm>
          <a:prstGeom prst="rect">
            <a:avLst/>
          </a:prstGeom>
        </p:spPr>
        <p:txBody>
          <a:bodyPr anchor="t" rtlCol="false" tIns="0" lIns="0" bIns="0" rIns="0">
            <a:spAutoFit/>
          </a:bodyPr>
          <a:lstStyle/>
          <a:p>
            <a:pPr algn="l" marL="610919" indent="-305460" lvl="1">
              <a:lnSpc>
                <a:spcPts val="3961"/>
              </a:lnSpc>
              <a:buFont typeface="Arial"/>
              <a:buChar char="•"/>
            </a:pPr>
            <a:r>
              <a:rPr lang="en-US" b="true" sz="2829">
                <a:solidFill>
                  <a:srgbClr val="000000"/>
                </a:solidFill>
                <a:latin typeface="Canva Sans Bold"/>
                <a:ea typeface="Canva Sans Bold"/>
                <a:cs typeface="Canva Sans Bold"/>
                <a:sym typeface="Canva Sans Bold"/>
              </a:rPr>
              <a:t>Operating System: Windows 10/11</a:t>
            </a:r>
          </a:p>
          <a:p>
            <a:pPr algn="l" marL="610919" indent="-305460" lvl="1">
              <a:lnSpc>
                <a:spcPts val="3961"/>
              </a:lnSpc>
              <a:buFont typeface="Arial"/>
              <a:buChar char="•"/>
            </a:pPr>
            <a:r>
              <a:rPr lang="en-US" b="true" sz="2829">
                <a:solidFill>
                  <a:srgbClr val="000000"/>
                </a:solidFill>
                <a:latin typeface="Canva Sans Bold"/>
                <a:ea typeface="Canva Sans Bold"/>
                <a:cs typeface="Canva Sans Bold"/>
                <a:sym typeface="Canva Sans Bold"/>
              </a:rPr>
              <a:t>Programming Language: Java</a:t>
            </a:r>
          </a:p>
          <a:p>
            <a:pPr algn="l" marL="610919" indent="-305460" lvl="1">
              <a:lnSpc>
                <a:spcPts val="3961"/>
              </a:lnSpc>
              <a:buFont typeface="Arial"/>
              <a:buChar char="•"/>
            </a:pPr>
            <a:r>
              <a:rPr lang="en-US" b="true" sz="2829">
                <a:solidFill>
                  <a:srgbClr val="000000"/>
                </a:solidFill>
                <a:latin typeface="Canva Sans Bold"/>
                <a:ea typeface="Canva Sans Bold"/>
                <a:cs typeface="Canva Sans Bold"/>
                <a:sym typeface="Canva Sans Bold"/>
              </a:rPr>
              <a:t>JDK: JDK 17 or above</a:t>
            </a:r>
          </a:p>
          <a:p>
            <a:pPr algn="l" marL="610919" indent="-305460" lvl="1">
              <a:lnSpc>
                <a:spcPts val="3961"/>
              </a:lnSpc>
              <a:buFont typeface="Arial"/>
              <a:buChar char="•"/>
            </a:pPr>
            <a:r>
              <a:rPr lang="en-US" b="true" sz="2829">
                <a:solidFill>
                  <a:srgbClr val="000000"/>
                </a:solidFill>
                <a:latin typeface="Canva Sans Bold"/>
                <a:ea typeface="Canva Sans Bold"/>
                <a:cs typeface="Canva Sans Bold"/>
                <a:sym typeface="Canva Sans Bold"/>
              </a:rPr>
              <a:t>IDE: IntelliJ IDEA / VS Code </a:t>
            </a:r>
          </a:p>
          <a:p>
            <a:pPr algn="l" marL="610919" indent="-305460" lvl="1">
              <a:lnSpc>
                <a:spcPts val="3961"/>
              </a:lnSpc>
              <a:buFont typeface="Arial"/>
              <a:buChar char="•"/>
            </a:pPr>
            <a:r>
              <a:rPr lang="en-US" b="true" sz="2829">
                <a:solidFill>
                  <a:srgbClr val="000000"/>
                </a:solidFill>
                <a:latin typeface="Canva Sans Bold"/>
                <a:ea typeface="Canva Sans Bold"/>
                <a:cs typeface="Canva Sans Bold"/>
                <a:sym typeface="Canva Sans Bold"/>
              </a:rPr>
              <a:t>Storage: Text files </a:t>
            </a:r>
          </a:p>
          <a:p>
            <a:pPr algn="l" marL="610919" indent="-305460" lvl="1">
              <a:lnSpc>
                <a:spcPts val="3961"/>
              </a:lnSpc>
              <a:buFont typeface="Arial"/>
              <a:buChar char="•"/>
            </a:pPr>
            <a:r>
              <a:rPr lang="en-US" b="true" sz="2829">
                <a:solidFill>
                  <a:srgbClr val="000000"/>
                </a:solidFill>
                <a:latin typeface="Canva Sans Bold"/>
                <a:ea typeface="Canva Sans Bold"/>
                <a:cs typeface="Canva Sans Bold"/>
                <a:sym typeface="Canva Sans Bold"/>
              </a:rPr>
              <a:t>Libraries: Java Standard Library</a:t>
            </a:r>
          </a:p>
          <a:p>
            <a:pPr algn="l" marL="610919" indent="-305460" lvl="1">
              <a:lnSpc>
                <a:spcPts val="3961"/>
              </a:lnSpc>
              <a:buFont typeface="Arial"/>
              <a:buChar char="•"/>
            </a:pPr>
            <a:r>
              <a:rPr lang="en-US" b="true" sz="2829">
                <a:solidFill>
                  <a:srgbClr val="000000"/>
                </a:solidFill>
                <a:latin typeface="Canva Sans Bold"/>
                <a:ea typeface="Canva Sans Bold"/>
                <a:cs typeface="Canva Sans Bold"/>
                <a:sym typeface="Canva Sans Bold"/>
              </a:rPr>
              <a:t>Version Control: Git/GitHub (optional)</a:t>
            </a:r>
          </a:p>
          <a:p>
            <a:pPr algn="l">
              <a:lnSpc>
                <a:spcPts val="3961"/>
              </a:lnSpc>
            </a:pPr>
          </a:p>
          <a:p>
            <a:pPr algn="l">
              <a:lnSpc>
                <a:spcPts val="440"/>
              </a:lnSpc>
              <a:spcBef>
                <a:spcPct val="0"/>
              </a:spcBef>
            </a:pPr>
          </a:p>
        </p:txBody>
      </p:sp>
      <p:sp>
        <p:nvSpPr>
          <p:cNvPr name="Freeform 4" id="4"/>
          <p:cNvSpPr/>
          <p:nvPr/>
        </p:nvSpPr>
        <p:spPr>
          <a:xfrm flipH="false" flipV="false" rot="-935363">
            <a:off x="10134405" y="-1801873"/>
            <a:ext cx="19411500" cy="17540937"/>
          </a:xfrm>
          <a:custGeom>
            <a:avLst/>
            <a:gdLst/>
            <a:ahLst/>
            <a:cxnLst/>
            <a:rect r="r" b="b" t="t" l="l"/>
            <a:pathLst>
              <a:path h="17540937" w="19411500">
                <a:moveTo>
                  <a:pt x="0" y="0"/>
                </a:moveTo>
                <a:lnTo>
                  <a:pt x="19411500" y="0"/>
                </a:lnTo>
                <a:lnTo>
                  <a:pt x="19411500" y="17540937"/>
                </a:lnTo>
                <a:lnTo>
                  <a:pt x="0" y="175409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4481759" y="1960565"/>
            <a:ext cx="9324482" cy="821055"/>
          </a:xfrm>
          <a:prstGeom prst="rect">
            <a:avLst/>
          </a:prstGeom>
        </p:spPr>
        <p:txBody>
          <a:bodyPr anchor="t" rtlCol="false" tIns="0" lIns="0" bIns="0" rIns="0">
            <a:spAutoFit/>
          </a:bodyPr>
          <a:lstStyle/>
          <a:p>
            <a:pPr algn="l">
              <a:lnSpc>
                <a:spcPts val="6719"/>
              </a:lnSpc>
              <a:spcBef>
                <a:spcPct val="0"/>
              </a:spcBef>
            </a:pPr>
            <a:r>
              <a:rPr lang="en-US" b="true" sz="4800">
                <a:solidFill>
                  <a:srgbClr val="000000"/>
                </a:solidFill>
                <a:latin typeface="Arial Nova Bold"/>
                <a:ea typeface="Arial Nova Bold"/>
                <a:cs typeface="Arial Nova Bold"/>
                <a:sym typeface="Arial Nova Bold"/>
              </a:rPr>
              <a:t>SOFTWARE REQUIREMENTS:</a:t>
            </a:r>
          </a:p>
        </p:txBody>
      </p:sp>
      <p:sp>
        <p:nvSpPr>
          <p:cNvPr name="Freeform 6" id="6"/>
          <p:cNvSpPr/>
          <p:nvPr/>
        </p:nvSpPr>
        <p:spPr>
          <a:xfrm flipH="false" flipV="false" rot="0">
            <a:off x="9525"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9F7"/>
        </a:solidFill>
      </p:bgPr>
    </p:bg>
    <p:spTree>
      <p:nvGrpSpPr>
        <p:cNvPr id="1" name=""/>
        <p:cNvGrpSpPr/>
        <p:nvPr/>
      </p:nvGrpSpPr>
      <p:grpSpPr>
        <a:xfrm>
          <a:off x="0" y="0"/>
          <a:ext cx="0" cy="0"/>
          <a:chOff x="0" y="0"/>
          <a:chExt cx="0" cy="0"/>
        </a:xfrm>
      </p:grpSpPr>
      <p:sp>
        <p:nvSpPr>
          <p:cNvPr name="Freeform 2" id="2"/>
          <p:cNvSpPr/>
          <p:nvPr/>
        </p:nvSpPr>
        <p:spPr>
          <a:xfrm flipH="true" flipV="false" rot="-4517737">
            <a:off x="-5159504" y="-6578531"/>
            <a:ext cx="10319008" cy="9324631"/>
          </a:xfrm>
          <a:custGeom>
            <a:avLst/>
            <a:gdLst/>
            <a:ahLst/>
            <a:cxnLst/>
            <a:rect r="r" b="b" t="t" l="l"/>
            <a:pathLst>
              <a:path h="9324631" w="10319008">
                <a:moveTo>
                  <a:pt x="10319008" y="0"/>
                </a:moveTo>
                <a:lnTo>
                  <a:pt x="0" y="0"/>
                </a:lnTo>
                <a:lnTo>
                  <a:pt x="0" y="9324631"/>
                </a:lnTo>
                <a:lnTo>
                  <a:pt x="10319008" y="9324631"/>
                </a:lnTo>
                <a:lnTo>
                  <a:pt x="1031900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26630" y="1390821"/>
            <a:ext cx="12348311" cy="821055"/>
          </a:xfrm>
          <a:prstGeom prst="rect">
            <a:avLst/>
          </a:prstGeom>
        </p:spPr>
        <p:txBody>
          <a:bodyPr anchor="t" rtlCol="false" tIns="0" lIns="0" bIns="0" rIns="0">
            <a:spAutoFit/>
          </a:bodyPr>
          <a:lstStyle/>
          <a:p>
            <a:pPr algn="l">
              <a:lnSpc>
                <a:spcPts val="6719"/>
              </a:lnSpc>
              <a:spcBef>
                <a:spcPct val="0"/>
              </a:spcBef>
            </a:pPr>
            <a:r>
              <a:rPr lang="en-US" b="true" sz="4800">
                <a:solidFill>
                  <a:srgbClr val="000000"/>
                </a:solidFill>
                <a:latin typeface="Arial Nova Bold"/>
                <a:ea typeface="Arial Nova Bold"/>
                <a:cs typeface="Arial Nova Bold"/>
                <a:sym typeface="Arial Nova Bold"/>
              </a:rPr>
              <a:t>LITERATURE SURVEY:</a:t>
            </a:r>
          </a:p>
        </p:txBody>
      </p:sp>
      <p:sp>
        <p:nvSpPr>
          <p:cNvPr name="TextBox 4" id="4"/>
          <p:cNvSpPr txBox="true"/>
          <p:nvPr/>
        </p:nvSpPr>
        <p:spPr>
          <a:xfrm rot="0">
            <a:off x="1798787" y="2994661"/>
            <a:ext cx="11411290" cy="6263639"/>
          </a:xfrm>
          <a:prstGeom prst="rect">
            <a:avLst/>
          </a:prstGeom>
        </p:spPr>
        <p:txBody>
          <a:bodyPr anchor="t" rtlCol="false" tIns="0" lIns="0" bIns="0" rIns="0">
            <a:spAutoFit/>
          </a:bodyPr>
          <a:lstStyle/>
          <a:p>
            <a:pPr algn="l" marL="518166" indent="-259083" lvl="1">
              <a:lnSpc>
                <a:spcPts val="3360"/>
              </a:lnSpc>
              <a:buFont typeface="Arial"/>
              <a:buChar char="•"/>
            </a:pPr>
            <a:r>
              <a:rPr lang="en-US" b="true" sz="2400">
                <a:solidFill>
                  <a:srgbClr val="000000"/>
                </a:solidFill>
                <a:latin typeface="Canva Sans Bold"/>
                <a:ea typeface="Canva Sans Bold"/>
                <a:cs typeface="Canva Sans Bold"/>
                <a:sym typeface="Canva Sans Bold"/>
              </a:rPr>
              <a:t>String Searching:</a:t>
            </a:r>
            <a:r>
              <a:rPr lang="en-US" sz="2400">
                <a:solidFill>
                  <a:srgbClr val="000000"/>
                </a:solidFill>
                <a:latin typeface="Canva Sans"/>
                <a:ea typeface="Canva Sans"/>
                <a:cs typeface="Canva Sans"/>
                <a:sym typeface="Canva Sans"/>
              </a:rPr>
              <a:t> Existing studies focus on finding a specific pattern within large text efficiently using string-matching algorithms.</a:t>
            </a:r>
          </a:p>
          <a:p>
            <a:pPr algn="l" marL="518166" indent="-259083" lvl="1">
              <a:lnSpc>
                <a:spcPts val="3360"/>
              </a:lnSpc>
              <a:buFont typeface="Arial"/>
              <a:buChar char="•"/>
            </a:pPr>
            <a:r>
              <a:rPr lang="en-US" b="true" sz="2400">
                <a:solidFill>
                  <a:srgbClr val="000000"/>
                </a:solidFill>
                <a:latin typeface="Canva Sans Bold"/>
                <a:ea typeface="Canva Sans Bold"/>
                <a:cs typeface="Canva Sans Bold"/>
                <a:sym typeface="Canva Sans Bold"/>
              </a:rPr>
              <a:t>Naive Pattern Matching</a:t>
            </a:r>
            <a:r>
              <a:rPr lang="en-US" sz="2400">
                <a:solidFill>
                  <a:srgbClr val="000000"/>
                </a:solidFill>
                <a:latin typeface="Canva Sans"/>
                <a:ea typeface="Canva Sans"/>
                <a:cs typeface="Canva Sans"/>
                <a:sym typeface="Canva Sans"/>
              </a:rPr>
              <a:t>: The basic approach compares the pattern with the text character-by-character at every possible position. It is simple and easy to implement but can be inefficient for large texts.</a:t>
            </a:r>
          </a:p>
          <a:p>
            <a:pPr algn="l" marL="518166" indent="-259083" lvl="1">
              <a:lnSpc>
                <a:spcPts val="3360"/>
              </a:lnSpc>
              <a:buFont typeface="Arial"/>
              <a:buChar char="•"/>
            </a:pPr>
            <a:r>
              <a:rPr lang="en-US" b="true" sz="2400">
                <a:solidFill>
                  <a:srgbClr val="000000"/>
                </a:solidFill>
                <a:latin typeface="Canva Sans Bold"/>
                <a:ea typeface="Canva Sans Bold"/>
                <a:cs typeface="Canva Sans Bold"/>
                <a:sym typeface="Canva Sans Bold"/>
              </a:rPr>
              <a:t>Advanced Algorithms:</a:t>
            </a:r>
            <a:r>
              <a:rPr lang="en-US" sz="2400">
                <a:solidFill>
                  <a:srgbClr val="000000"/>
                </a:solidFill>
                <a:latin typeface="Canva Sans"/>
                <a:ea typeface="Canva Sans"/>
                <a:cs typeface="Canva Sans"/>
                <a:sym typeface="Canva Sans"/>
              </a:rPr>
              <a:t> Algorithms such as KMP, Boyer–Moore, and Rabin–Karp improve searching efficiency by reducing unnecessary comparisons.</a:t>
            </a:r>
          </a:p>
          <a:p>
            <a:pPr algn="l" marL="518166" indent="-259083" lvl="1">
              <a:lnSpc>
                <a:spcPts val="3360"/>
              </a:lnSpc>
              <a:buFont typeface="Arial"/>
              <a:buChar char="•"/>
            </a:pPr>
            <a:r>
              <a:rPr lang="en-US" b="true" sz="2400">
                <a:solidFill>
                  <a:srgbClr val="000000"/>
                </a:solidFill>
                <a:latin typeface="Canva Sans Bold"/>
                <a:ea typeface="Canva Sans Bold"/>
                <a:cs typeface="Canva Sans Bold"/>
                <a:sym typeface="Canva Sans Bold"/>
              </a:rPr>
              <a:t>Information Retrieval:</a:t>
            </a:r>
            <a:r>
              <a:rPr lang="en-US" sz="2400">
                <a:solidFill>
                  <a:srgbClr val="000000"/>
                </a:solidFill>
                <a:latin typeface="Canva Sans"/>
                <a:ea typeface="Canva Sans"/>
                <a:cs typeface="Canva Sans"/>
                <a:sym typeface="Canva Sans"/>
              </a:rPr>
              <a:t> Modern search systems use indexing, query processing, and ranking to retrieve relevant information quickly.</a:t>
            </a:r>
          </a:p>
          <a:p>
            <a:pPr algn="l" marL="518166" indent="-259083" lvl="1">
              <a:lnSpc>
                <a:spcPts val="3360"/>
              </a:lnSpc>
              <a:buFont typeface="Arial"/>
              <a:buChar char="•"/>
            </a:pPr>
            <a:r>
              <a:rPr lang="en-US" b="true" sz="2400">
                <a:solidFill>
                  <a:srgbClr val="000000"/>
                </a:solidFill>
                <a:latin typeface="Canva Sans Bold"/>
                <a:ea typeface="Canva Sans Bold"/>
                <a:cs typeface="Canva Sans Bold"/>
                <a:sym typeface="Canva Sans Bold"/>
              </a:rPr>
              <a:t>Research Gap:</a:t>
            </a:r>
            <a:r>
              <a:rPr lang="en-US" sz="2400">
                <a:solidFill>
                  <a:srgbClr val="000000"/>
                </a:solidFill>
                <a:latin typeface="Canva Sans"/>
                <a:ea typeface="Canva Sans"/>
                <a:cs typeface="Canva Sans"/>
                <a:sym typeface="Canva Sans"/>
              </a:rPr>
              <a:t> Advanced search engines are powerful but complex, while basic searching methods are simple but less efficient.</a:t>
            </a:r>
          </a:p>
          <a:p>
            <a:pPr algn="l" marL="518166" indent="-259083" lvl="1">
              <a:lnSpc>
                <a:spcPts val="3360"/>
              </a:lnSpc>
              <a:spcBef>
                <a:spcPct val="0"/>
              </a:spcBef>
              <a:buFont typeface="Arial"/>
              <a:buChar char="•"/>
            </a:pPr>
            <a:r>
              <a:rPr lang="en-US" b="true" sz="2400">
                <a:solidFill>
                  <a:srgbClr val="000000"/>
                </a:solidFill>
                <a:latin typeface="Canva Sans Bold"/>
                <a:ea typeface="Canva Sans Bold"/>
                <a:cs typeface="Canva Sans Bold"/>
                <a:sym typeface="Canva Sans Bold"/>
              </a:rPr>
              <a:t>Our Project: </a:t>
            </a:r>
            <a:r>
              <a:rPr lang="en-US" sz="2400">
                <a:solidFill>
                  <a:srgbClr val="000000"/>
                </a:solidFill>
                <a:latin typeface="Canva Sans"/>
                <a:ea typeface="Canva Sans"/>
                <a:cs typeface="Canva Sans"/>
                <a:sym typeface="Canva Sans"/>
              </a:rPr>
              <a:t>The Mini Search Engine demonstrates the fundamental search process using pattern matching, text processing, and result retrieval in a simple and understandable system.</a:t>
            </a:r>
          </a:p>
          <a:p>
            <a:pPr algn="l">
              <a:lnSpc>
                <a:spcPts val="3360"/>
              </a:lnSpc>
              <a:spcBef>
                <a:spcPct val="0"/>
              </a:spcBef>
            </a:pPr>
          </a:p>
        </p:txBody>
      </p:sp>
      <p:sp>
        <p:nvSpPr>
          <p:cNvPr name="Freeform 5" id="5"/>
          <p:cNvSpPr/>
          <p:nvPr/>
        </p:nvSpPr>
        <p:spPr>
          <a:xfrm flipH="false" flipV="false" rot="-7552676">
            <a:off x="13197128" y="158633"/>
            <a:ext cx="11934561" cy="10784504"/>
          </a:xfrm>
          <a:custGeom>
            <a:avLst/>
            <a:gdLst/>
            <a:ahLst/>
            <a:cxnLst/>
            <a:rect r="r" b="b" t="t" l="l"/>
            <a:pathLst>
              <a:path h="10784504" w="11934561">
                <a:moveTo>
                  <a:pt x="0" y="0"/>
                </a:moveTo>
                <a:lnTo>
                  <a:pt x="11934561" y="0"/>
                </a:lnTo>
                <a:lnTo>
                  <a:pt x="11934561" y="10784503"/>
                </a:lnTo>
                <a:lnTo>
                  <a:pt x="0" y="107845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9F7"/>
        </a:solidFill>
      </p:bgPr>
    </p:bg>
    <p:spTree>
      <p:nvGrpSpPr>
        <p:cNvPr id="1" name=""/>
        <p:cNvGrpSpPr/>
        <p:nvPr/>
      </p:nvGrpSpPr>
      <p:grpSpPr>
        <a:xfrm>
          <a:off x="0" y="0"/>
          <a:ext cx="0" cy="0"/>
          <a:chOff x="0" y="0"/>
          <a:chExt cx="0" cy="0"/>
        </a:xfrm>
      </p:grpSpPr>
      <p:sp>
        <p:nvSpPr>
          <p:cNvPr name="Freeform 2" id="2"/>
          <p:cNvSpPr/>
          <p:nvPr/>
        </p:nvSpPr>
        <p:spPr>
          <a:xfrm flipH="true" flipV="false" rot="-4517737">
            <a:off x="-5159504" y="-6578531"/>
            <a:ext cx="10319008" cy="9324631"/>
          </a:xfrm>
          <a:custGeom>
            <a:avLst/>
            <a:gdLst/>
            <a:ahLst/>
            <a:cxnLst/>
            <a:rect r="r" b="b" t="t" l="l"/>
            <a:pathLst>
              <a:path h="9324631" w="10319008">
                <a:moveTo>
                  <a:pt x="10319008" y="0"/>
                </a:moveTo>
                <a:lnTo>
                  <a:pt x="0" y="0"/>
                </a:lnTo>
                <a:lnTo>
                  <a:pt x="0" y="9324631"/>
                </a:lnTo>
                <a:lnTo>
                  <a:pt x="10319008" y="9324631"/>
                </a:lnTo>
                <a:lnTo>
                  <a:pt x="1031900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84194" y="1107539"/>
            <a:ext cx="12348311" cy="821055"/>
          </a:xfrm>
          <a:prstGeom prst="rect">
            <a:avLst/>
          </a:prstGeom>
        </p:spPr>
        <p:txBody>
          <a:bodyPr anchor="t" rtlCol="false" tIns="0" lIns="0" bIns="0" rIns="0">
            <a:spAutoFit/>
          </a:bodyPr>
          <a:lstStyle/>
          <a:p>
            <a:pPr algn="l">
              <a:lnSpc>
                <a:spcPts val="6719"/>
              </a:lnSpc>
              <a:spcBef>
                <a:spcPct val="0"/>
              </a:spcBef>
            </a:pPr>
            <a:r>
              <a:rPr lang="en-US" b="true" sz="4800">
                <a:solidFill>
                  <a:srgbClr val="000000"/>
                </a:solidFill>
                <a:latin typeface="Arial Nova Bold"/>
                <a:ea typeface="Arial Nova Bold"/>
                <a:cs typeface="Arial Nova Bold"/>
                <a:sym typeface="Arial Nova Bold"/>
              </a:rPr>
              <a:t>METHODOLOGY:</a:t>
            </a:r>
          </a:p>
        </p:txBody>
      </p:sp>
      <p:sp>
        <p:nvSpPr>
          <p:cNvPr name="TextBox 4" id="4"/>
          <p:cNvSpPr txBox="true"/>
          <p:nvPr/>
        </p:nvSpPr>
        <p:spPr>
          <a:xfrm rot="0">
            <a:off x="1598444" y="2753992"/>
            <a:ext cx="11258550" cy="6252179"/>
          </a:xfrm>
          <a:prstGeom prst="rect">
            <a:avLst/>
          </a:prstGeom>
        </p:spPr>
        <p:txBody>
          <a:bodyPr anchor="t" rtlCol="false" tIns="0" lIns="0" bIns="0" rIns="0">
            <a:spAutoFit/>
          </a:bodyPr>
          <a:lstStyle/>
          <a:p>
            <a:pPr algn="l" marL="580165" indent="-290083" lvl="1">
              <a:lnSpc>
                <a:spcPts val="3762"/>
              </a:lnSpc>
              <a:buFont typeface="Arial"/>
              <a:buChar char="•"/>
            </a:pPr>
            <a:r>
              <a:rPr lang="en-US" b="true" sz="2687">
                <a:solidFill>
                  <a:srgbClr val="000000"/>
                </a:solidFill>
                <a:latin typeface="Canva Sans Bold"/>
                <a:ea typeface="Canva Sans Bold"/>
                <a:cs typeface="Canva Sans Bold"/>
                <a:sym typeface="Canva Sans Bold"/>
              </a:rPr>
              <a:t>Input Collection</a:t>
            </a:r>
            <a:r>
              <a:rPr lang="en-US" sz="2687">
                <a:solidFill>
                  <a:srgbClr val="000000"/>
                </a:solidFill>
                <a:latin typeface="Canva Sans"/>
                <a:ea typeface="Canva Sans"/>
                <a:cs typeface="Canva Sans"/>
                <a:sym typeface="Canva Sans"/>
              </a:rPr>
              <a:t> – Take the text/documents and the search query from the user.</a:t>
            </a:r>
          </a:p>
          <a:p>
            <a:pPr algn="l" marL="580165" indent="-290083" lvl="1">
              <a:lnSpc>
                <a:spcPts val="3762"/>
              </a:lnSpc>
              <a:buFont typeface="Arial"/>
              <a:buChar char="•"/>
            </a:pPr>
            <a:r>
              <a:rPr lang="en-US" b="true" sz="2687">
                <a:solidFill>
                  <a:srgbClr val="000000"/>
                </a:solidFill>
                <a:latin typeface="Canva Sans Bold"/>
                <a:ea typeface="Canva Sans Bold"/>
                <a:cs typeface="Canva Sans Bold"/>
                <a:sym typeface="Canva Sans Bold"/>
              </a:rPr>
              <a:t>Preprocessing </a:t>
            </a:r>
            <a:r>
              <a:rPr lang="en-US" sz="2687">
                <a:solidFill>
                  <a:srgbClr val="000000"/>
                </a:solidFill>
                <a:latin typeface="Canva Sans"/>
                <a:ea typeface="Canva Sans"/>
                <a:cs typeface="Canva Sans"/>
                <a:sym typeface="Canva Sans"/>
              </a:rPr>
              <a:t>– Process the input text to make searching easier and consistent.</a:t>
            </a:r>
          </a:p>
          <a:p>
            <a:pPr algn="l" marL="580165" indent="-290083" lvl="1">
              <a:lnSpc>
                <a:spcPts val="3762"/>
              </a:lnSpc>
              <a:buFont typeface="Arial"/>
              <a:buChar char="•"/>
            </a:pPr>
            <a:r>
              <a:rPr lang="en-US" b="true" sz="2687">
                <a:solidFill>
                  <a:srgbClr val="000000"/>
                </a:solidFill>
                <a:latin typeface="Canva Sans Bold"/>
                <a:ea typeface="Canva Sans Bold"/>
                <a:cs typeface="Canva Sans Bold"/>
                <a:sym typeface="Canva Sans Bold"/>
              </a:rPr>
              <a:t>Pattern Searching</a:t>
            </a:r>
            <a:r>
              <a:rPr lang="en-US" sz="2687">
                <a:solidFill>
                  <a:srgbClr val="000000"/>
                </a:solidFill>
                <a:latin typeface="Canva Sans"/>
                <a:ea typeface="Canva Sans"/>
                <a:cs typeface="Canva Sans"/>
                <a:sym typeface="Canva Sans"/>
              </a:rPr>
              <a:t> – Apply a string-matching algorithm such as Naive Pattern Matching to find the search term.</a:t>
            </a:r>
          </a:p>
          <a:p>
            <a:pPr algn="l" marL="580165" indent="-290083" lvl="1">
              <a:lnSpc>
                <a:spcPts val="3762"/>
              </a:lnSpc>
              <a:buFont typeface="Arial"/>
              <a:buChar char="•"/>
            </a:pPr>
            <a:r>
              <a:rPr lang="en-US" b="true" sz="2687">
                <a:solidFill>
                  <a:srgbClr val="000000"/>
                </a:solidFill>
                <a:latin typeface="Canva Sans Bold"/>
                <a:ea typeface="Canva Sans Bold"/>
                <a:cs typeface="Canva Sans Bold"/>
                <a:sym typeface="Canva Sans Bold"/>
              </a:rPr>
              <a:t>Position Checking</a:t>
            </a:r>
            <a:r>
              <a:rPr lang="en-US" sz="2687">
                <a:solidFill>
                  <a:srgbClr val="000000"/>
                </a:solidFill>
                <a:latin typeface="Canva Sans"/>
                <a:ea typeface="Canva Sans"/>
                <a:cs typeface="Canva Sans"/>
                <a:sym typeface="Canva Sans"/>
              </a:rPr>
              <a:t> – Compare the pattern with the text at different positions.</a:t>
            </a:r>
          </a:p>
          <a:p>
            <a:pPr algn="l" marL="580165" indent="-290083" lvl="1">
              <a:lnSpc>
                <a:spcPts val="3762"/>
              </a:lnSpc>
              <a:buFont typeface="Arial"/>
              <a:buChar char="•"/>
            </a:pPr>
            <a:r>
              <a:rPr lang="en-US" b="true" sz="2687">
                <a:solidFill>
                  <a:srgbClr val="000000"/>
                </a:solidFill>
                <a:latin typeface="Canva Sans Bold"/>
                <a:ea typeface="Canva Sans Bold"/>
                <a:cs typeface="Canva Sans Bold"/>
                <a:sym typeface="Canva Sans Bold"/>
              </a:rPr>
              <a:t>Result Identification</a:t>
            </a:r>
            <a:r>
              <a:rPr lang="en-US" sz="2687">
                <a:solidFill>
                  <a:srgbClr val="000000"/>
                </a:solidFill>
                <a:latin typeface="Canva Sans"/>
                <a:ea typeface="Canva Sans"/>
                <a:cs typeface="Canva Sans"/>
                <a:sym typeface="Canva Sans"/>
              </a:rPr>
              <a:t> – Identify documents or text sections where the pattern occurs.</a:t>
            </a:r>
          </a:p>
          <a:p>
            <a:pPr algn="l" marL="580165" indent="-290083" lvl="1">
              <a:lnSpc>
                <a:spcPts val="3762"/>
              </a:lnSpc>
              <a:buFont typeface="Arial"/>
              <a:buChar char="•"/>
            </a:pPr>
            <a:r>
              <a:rPr lang="en-US" b="true" sz="2687">
                <a:solidFill>
                  <a:srgbClr val="000000"/>
                </a:solidFill>
                <a:latin typeface="Canva Sans Bold"/>
                <a:ea typeface="Canva Sans Bold"/>
                <a:cs typeface="Canva Sans Bold"/>
                <a:sym typeface="Canva Sans Bold"/>
              </a:rPr>
              <a:t>Result Display</a:t>
            </a:r>
            <a:r>
              <a:rPr lang="en-US" sz="2687">
                <a:solidFill>
                  <a:srgbClr val="000000"/>
                </a:solidFill>
                <a:latin typeface="Canva Sans"/>
                <a:ea typeface="Canva Sans"/>
                <a:cs typeface="Canva Sans"/>
                <a:sym typeface="Canva Sans"/>
              </a:rPr>
              <a:t> – Display the matching results to the user.</a:t>
            </a:r>
          </a:p>
          <a:p>
            <a:pPr algn="l" marL="580165" indent="-290083" lvl="1">
              <a:lnSpc>
                <a:spcPts val="3762"/>
              </a:lnSpc>
              <a:spcBef>
                <a:spcPct val="0"/>
              </a:spcBef>
              <a:buFont typeface="Arial"/>
              <a:buChar char="•"/>
            </a:pPr>
            <a:r>
              <a:rPr lang="en-US" b="true" sz="2687">
                <a:solidFill>
                  <a:srgbClr val="000000"/>
                </a:solidFill>
                <a:latin typeface="Canva Sans Bold"/>
                <a:ea typeface="Canva Sans Bold"/>
                <a:cs typeface="Canva Sans Bold"/>
                <a:sym typeface="Canva Sans Bold"/>
              </a:rPr>
              <a:t>Performance Analysis</a:t>
            </a:r>
            <a:r>
              <a:rPr lang="en-US" sz="2687">
                <a:solidFill>
                  <a:srgbClr val="000000"/>
                </a:solidFill>
                <a:latin typeface="Canva Sans"/>
                <a:ea typeface="Canva Sans"/>
                <a:cs typeface="Canva Sans"/>
                <a:sym typeface="Canva Sans"/>
              </a:rPr>
              <a:t> – Analyze the searching time and efficiency of the algorithm.</a:t>
            </a:r>
          </a:p>
          <a:p>
            <a:pPr algn="l">
              <a:lnSpc>
                <a:spcPts val="313"/>
              </a:lnSpc>
              <a:spcBef>
                <a:spcPct val="0"/>
              </a:spcBef>
            </a:pPr>
          </a:p>
        </p:txBody>
      </p:sp>
      <p:sp>
        <p:nvSpPr>
          <p:cNvPr name="Freeform 5" id="5"/>
          <p:cNvSpPr/>
          <p:nvPr/>
        </p:nvSpPr>
        <p:spPr>
          <a:xfrm flipH="false" flipV="false" rot="-7552676">
            <a:off x="13197128" y="158633"/>
            <a:ext cx="11934561" cy="10784504"/>
          </a:xfrm>
          <a:custGeom>
            <a:avLst/>
            <a:gdLst/>
            <a:ahLst/>
            <a:cxnLst/>
            <a:rect r="r" b="b" t="t" l="l"/>
            <a:pathLst>
              <a:path h="10784504" w="11934561">
                <a:moveTo>
                  <a:pt x="0" y="0"/>
                </a:moveTo>
                <a:lnTo>
                  <a:pt x="11934561" y="0"/>
                </a:lnTo>
                <a:lnTo>
                  <a:pt x="11934561" y="10784503"/>
                </a:lnTo>
                <a:lnTo>
                  <a:pt x="0" y="107845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9F7"/>
        </a:solidFill>
      </p:bgPr>
    </p:bg>
    <p:spTree>
      <p:nvGrpSpPr>
        <p:cNvPr id="1" name=""/>
        <p:cNvGrpSpPr/>
        <p:nvPr/>
      </p:nvGrpSpPr>
      <p:grpSpPr>
        <a:xfrm>
          <a:off x="0" y="0"/>
          <a:ext cx="0" cy="0"/>
          <a:chOff x="0" y="0"/>
          <a:chExt cx="0" cy="0"/>
        </a:xfrm>
      </p:grpSpPr>
      <p:sp>
        <p:nvSpPr>
          <p:cNvPr name="Freeform 2" id="2"/>
          <p:cNvSpPr/>
          <p:nvPr/>
        </p:nvSpPr>
        <p:spPr>
          <a:xfrm flipH="true" flipV="false" rot="0">
            <a:off x="8372145" y="-688803"/>
            <a:ext cx="12875124" cy="12758078"/>
          </a:xfrm>
          <a:custGeom>
            <a:avLst/>
            <a:gdLst/>
            <a:ahLst/>
            <a:cxnLst/>
            <a:rect r="r" b="b" t="t" l="l"/>
            <a:pathLst>
              <a:path h="12758078" w="12875124">
                <a:moveTo>
                  <a:pt x="12875125" y="0"/>
                </a:moveTo>
                <a:lnTo>
                  <a:pt x="0" y="0"/>
                </a:lnTo>
                <a:lnTo>
                  <a:pt x="0" y="12758077"/>
                </a:lnTo>
                <a:lnTo>
                  <a:pt x="12875125" y="12758077"/>
                </a:lnTo>
                <a:lnTo>
                  <a:pt x="1287512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41758" y="4024546"/>
            <a:ext cx="9324482" cy="1500506"/>
          </a:xfrm>
          <a:prstGeom prst="rect">
            <a:avLst/>
          </a:prstGeom>
        </p:spPr>
        <p:txBody>
          <a:bodyPr anchor="t" rtlCol="false" tIns="0" lIns="0" bIns="0" rIns="0">
            <a:spAutoFit/>
          </a:bodyPr>
          <a:lstStyle/>
          <a:p>
            <a:pPr algn="l">
              <a:lnSpc>
                <a:spcPts val="12319"/>
              </a:lnSpc>
              <a:spcBef>
                <a:spcPct val="0"/>
              </a:spcBef>
            </a:pPr>
            <a:r>
              <a:rPr lang="en-US" b="true" sz="8799">
                <a:solidFill>
                  <a:srgbClr val="006B68"/>
                </a:solidFill>
                <a:latin typeface="Arial Nova Bold"/>
                <a:ea typeface="Arial Nova Bold"/>
                <a:cs typeface="Arial Nova Bold"/>
                <a:sym typeface="Arial Nova Bold"/>
              </a:rPr>
              <a:t>Thank You </a:t>
            </a:r>
          </a:p>
        </p:txBody>
      </p:sp>
      <p:sp>
        <p:nvSpPr>
          <p:cNvPr name="Freeform 4" id="4"/>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DAHSzummfFk</dc:identifier>
  <dcterms:modified xsi:type="dcterms:W3CDTF">2011-08-01T06:04:30Z</dcterms:modified>
  <cp:revision>1</cp:revision>
  <dc:title>Mini Search Engine / Information-Retrieval System</dc:title>
</cp:coreProperties>
</file>